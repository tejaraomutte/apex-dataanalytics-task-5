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9C4A3-CD13-8B31-90E2-B1F4E4776B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3ECEA-3337-5E65-A648-AA821BFAE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D8EF1-EEC5-87BE-5C0C-51DA7AEA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44D5-7D37-4D74-9EC0-4D1BDECCC80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0C9B1-C078-46A6-1AC2-6DE9F233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952FE-5E10-51F4-E540-486BF6E3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63D5-9A95-4549-9EE7-6F1301B31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10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4637-B1CD-A3B6-3C61-4355B8B5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ED088-DCC2-1055-309D-42240C2C7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8FE24-290C-9401-C44A-B7511B373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44D5-7D37-4D74-9EC0-4D1BDECCC80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61A41-BB53-B0B7-7135-E39E45822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46763-F81F-92A5-97B0-C616AA8F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63D5-9A95-4549-9EE7-6F1301B31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469CF-C1B4-6E54-7C9A-3101A50DF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F4308-7EB5-EB7F-DC14-B441E2F52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9FBF2-E189-B072-45A6-89DB0DC28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44D5-7D37-4D74-9EC0-4D1BDECCC80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F5621-D436-8455-4BDD-6099E5029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8AFC4-FCE2-46A2-7DB6-4F469BDF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63D5-9A95-4549-9EE7-6F1301B31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7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AC5D-0A9B-B43E-AA5A-1E014D3B7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A9B5F-732D-E3C8-7D36-4ADE8F6C1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AFD0A-122A-464A-6CA1-4C732297F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F6C75-9CE4-159C-3556-5C96D2CEA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44D5-7D37-4D74-9EC0-4D1BDECCC80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B0EB9-B3A6-F7B8-CCC7-42E99A52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B00FF-2C03-5990-4B15-3D2A0FE2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63D5-9A95-4549-9EE7-6F1301B31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33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0166D-45F2-4897-0F6B-69FBF5771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C619C-897D-9C7B-8981-A5AE56EDE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2D856-F3D4-4909-12C1-59C41DDFF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163DAF-4358-0A90-BCA6-DB371378E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4664E-91E8-575E-3D25-C5B5902C9C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5E7DF1-B74A-8D36-1956-C447CF8D4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44D5-7D37-4D74-9EC0-4D1BDECCC80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E8627-56F6-54BE-918F-032FF4D87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2D63A5-AEDD-B3D5-BD5F-D736FF59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63D5-9A95-4549-9EE7-6F1301B31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8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5B4C9-BD94-8DA6-DE7C-00B46F14F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A55D8-8338-E29B-D73D-356FE8C1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44D5-7D37-4D74-9EC0-4D1BDECCC80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65806-10B4-277E-FAD4-0C33C7819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A0C67-FB0D-50B0-AE5F-A11AF7B53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63D5-9A95-4549-9EE7-6F1301B31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62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66D8D-75E3-7A79-CCA3-BBB76AB2A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44D5-7D37-4D74-9EC0-4D1BDECCC80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6E659E-1AA9-AD8A-0DE7-9536B544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0DD66-9DF8-3C77-D999-13AD8FAB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63D5-9A95-4549-9EE7-6F1301B31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02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B8ED2-A43D-8450-49D9-43C0E476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C289-28A0-3F94-F9DE-88AC9CB42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8E92F-AD35-3CF5-F2A7-A0506B0A3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B2EEC-3762-07B8-50F1-7D06C9DF3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44D5-7D37-4D74-9EC0-4D1BDECCC80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D4FB2-D52C-1777-DA31-53FF8EF3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26544-B0E0-50CF-9B21-1496FE049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63D5-9A95-4549-9EE7-6F1301B31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24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B661-E95F-D1B7-8D62-B49A04837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1C0220-5F43-7E25-2355-8A6D904DF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614F51-90DD-09E9-9F15-7AC063BFE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C80EB-C6D5-C1DB-6805-E3F9534D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44D5-7D37-4D74-9EC0-4D1BDECCC80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272D-5823-3637-EFEF-B8F8BA0B7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1BC0B-378E-E83D-85A2-2E3FE2CB3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63D5-9A95-4549-9EE7-6F1301B31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06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8425-7526-3145-41B0-C79A71CC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9F3FD-670E-3D2F-5D00-51760602C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EBA2F-DF45-33EE-8C58-EFE869713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44D5-7D37-4D74-9EC0-4D1BDECCC80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83F80-E732-4D42-2CC9-852DDAE0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58A6-427A-17E2-8BE8-ADC98C7EF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63D5-9A95-4549-9EE7-6F1301B31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259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355B50-E7D9-EE73-5FD5-0D972679F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96954-333A-00D4-A370-F942C286F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46F90-1872-E16E-87CF-1130F783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44D5-7D37-4D74-9EC0-4D1BDECCC80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DD894-0502-27A6-66B1-80C5D5AB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87052-35D0-1BF0-8122-7BB2E1579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63D5-9A95-4549-9EE7-6F1301B31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55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8B0E4-B116-DAF0-D78B-98C55A824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A62B9-8F82-D0D8-E60B-12932ACFC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1706F-E371-BBA3-BE21-256A528B7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C44D5-7D37-4D74-9EC0-4D1BDECCC80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508DC-8F08-E7E7-DE5A-4B2929754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4F6EF-3418-FE11-E7A3-8A6516867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163D5-9A95-4549-9EE7-6F1301B31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3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EB4E9C-8EDD-92A2-246C-44DD37C8305A}"/>
              </a:ext>
            </a:extLst>
          </p:cNvPr>
          <p:cNvSpPr txBox="1"/>
          <p:nvPr/>
        </p:nvSpPr>
        <p:spPr>
          <a:xfrm>
            <a:off x="275303" y="255639"/>
            <a:ext cx="11523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Bell MT" panose="02020503060305020303" pitchFamily="18" charset="0"/>
              </a:rPr>
              <a:t>Laptop Market 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57493-C426-B42E-0C05-153A67081DFF}"/>
              </a:ext>
            </a:extLst>
          </p:cNvPr>
          <p:cNvSpPr txBox="1"/>
          <p:nvPr/>
        </p:nvSpPr>
        <p:spPr>
          <a:xfrm>
            <a:off x="363794" y="1140542"/>
            <a:ext cx="52209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Storytelling &amp; Statistical Validation:</a:t>
            </a:r>
            <a:r>
              <a:rPr lang="en-US" sz="1200" b="1" dirty="0"/>
              <a:t>  </a:t>
            </a:r>
          </a:p>
          <a:p>
            <a:br>
              <a:rPr lang="en-US" dirty="0"/>
            </a:br>
            <a:r>
              <a:rPr lang="en-US" dirty="0"/>
              <a:t>A complete business intelligence and analytical study</a:t>
            </a:r>
            <a:br>
              <a:rPr lang="en-US" dirty="0"/>
            </a:br>
            <a:r>
              <a:rPr lang="en-US" dirty="0"/>
              <a:t>performed on laptop market data using Python,</a:t>
            </a:r>
            <a:br>
              <a:rPr lang="en-US" dirty="0"/>
            </a:br>
            <a:r>
              <a:rPr lang="en-US" dirty="0"/>
              <a:t>EDA, Statistical Testing, and Power BI Dashboarding.</a:t>
            </a:r>
          </a:p>
        </p:txBody>
      </p:sp>
      <p:pic>
        <p:nvPicPr>
          <p:cNvPr id="1026" name="Picture 2" descr="Laptop Selection Dataset">
            <a:extLst>
              <a:ext uri="{FF2B5EF4-FFF2-40B4-BE49-F238E27FC236}">
                <a16:creationId xmlns:a16="http://schemas.microsoft.com/office/drawing/2014/main" id="{F5933A79-A090-81AE-C323-44A5D7DA9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286" y="2753032"/>
            <a:ext cx="7237617" cy="3650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0296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8D0838-1B21-02EF-7D36-7417D98F69F6}"/>
              </a:ext>
            </a:extLst>
          </p:cNvPr>
          <p:cNvSpPr txBox="1"/>
          <p:nvPr/>
        </p:nvSpPr>
        <p:spPr>
          <a:xfrm>
            <a:off x="1296039" y="757084"/>
            <a:ext cx="597983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Objective:  </a:t>
            </a:r>
            <a:r>
              <a:rPr lang="en-US" sz="1200" b="1" dirty="0"/>
              <a:t>  </a:t>
            </a:r>
          </a:p>
          <a:p>
            <a:endParaRPr lang="en-US" sz="1200" dirty="0"/>
          </a:p>
          <a:p>
            <a:r>
              <a:rPr lang="en-US" dirty="0"/>
              <a:t>The objective of this project is to analyze laptop market</a:t>
            </a:r>
            <a:br>
              <a:rPr lang="en-US" dirty="0"/>
            </a:br>
            <a:r>
              <a:rPr lang="en-US" dirty="0"/>
              <a:t>data to identify pricing patterns, brand trends,</a:t>
            </a:r>
            <a:br>
              <a:rPr lang="en-US" dirty="0"/>
            </a:br>
            <a:r>
              <a:rPr lang="en-US" dirty="0"/>
              <a:t>customer preferences, and important business insights.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project also focuses on statistical validation</a:t>
            </a:r>
            <a:br>
              <a:rPr lang="en-US" dirty="0"/>
            </a:br>
            <a:r>
              <a:rPr lang="en-US" dirty="0"/>
              <a:t>and dashboard-driven decision-making.</a:t>
            </a:r>
          </a:p>
        </p:txBody>
      </p:sp>
      <p:sp>
        <p:nvSpPr>
          <p:cNvPr id="4" name="AutoShape 4" descr="Laptop Market Size, Share and Growth Analysis Forecast, 2035">
            <a:extLst>
              <a:ext uri="{FF2B5EF4-FFF2-40B4-BE49-F238E27FC236}">
                <a16:creationId xmlns:a16="http://schemas.microsoft.com/office/drawing/2014/main" id="{AA78D8D6-6330-A37A-0618-4592510637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6" name="Picture 8" descr="A Step-by-Step Guide to the Data Science Workflow">
            <a:extLst>
              <a:ext uri="{FF2B5EF4-FFF2-40B4-BE49-F238E27FC236}">
                <a16:creationId xmlns:a16="http://schemas.microsoft.com/office/drawing/2014/main" id="{FAB7228D-94F4-A020-4F8E-B5B893177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039" y="3261165"/>
            <a:ext cx="4799961" cy="273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2" descr="Generated image: Business analytics workflow diagram">
            <a:extLst>
              <a:ext uri="{FF2B5EF4-FFF2-40B4-BE49-F238E27FC236}">
                <a16:creationId xmlns:a16="http://schemas.microsoft.com/office/drawing/2014/main" id="{D0815E9C-3EE6-7867-65FD-5B89605763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CD6C83-AA28-88E0-5D68-F40F27B8B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941" y="670838"/>
            <a:ext cx="3677549" cy="551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67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8E2F57-B4B3-0DD8-2061-D2C11614623A}"/>
              </a:ext>
            </a:extLst>
          </p:cNvPr>
          <p:cNvSpPr txBox="1"/>
          <p:nvPr/>
        </p:nvSpPr>
        <p:spPr>
          <a:xfrm>
            <a:off x="373626" y="403123"/>
            <a:ext cx="89080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Overview:</a:t>
            </a:r>
          </a:p>
          <a:p>
            <a:endParaRPr lang="en-US" dirty="0"/>
          </a:p>
          <a:p>
            <a:r>
              <a:rPr lang="en-US" dirty="0"/>
              <a:t>The dataset contains information related to laptop brands,</a:t>
            </a:r>
          </a:p>
          <a:p>
            <a:r>
              <a:rPr lang="en-US" dirty="0"/>
              <a:t>pricing, RAM, storage, processors, and product categories.</a:t>
            </a:r>
          </a:p>
          <a:p>
            <a:endParaRPr lang="en-US" dirty="0"/>
          </a:p>
          <a:p>
            <a:r>
              <a:rPr lang="en-US" dirty="0"/>
              <a:t>The dataset was used to uncover trends and perform</a:t>
            </a:r>
          </a:p>
          <a:p>
            <a:r>
              <a:rPr lang="en-US" dirty="0"/>
              <a:t>business intelligence analysis.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D9E16D-4596-5C54-AE56-B95581DAE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6" y="2434448"/>
            <a:ext cx="11415252" cy="422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98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0268B-260F-DEFB-151F-C51DF468107E}"/>
              </a:ext>
            </a:extLst>
          </p:cNvPr>
          <p:cNvSpPr txBox="1"/>
          <p:nvPr/>
        </p:nvSpPr>
        <p:spPr>
          <a:xfrm>
            <a:off x="727587" y="332709"/>
            <a:ext cx="662694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Cleaning and Wrangling:   </a:t>
            </a:r>
            <a:endParaRPr lang="en-US" sz="1400" dirty="0"/>
          </a:p>
          <a:p>
            <a:endParaRPr lang="en-US" sz="1400" dirty="0"/>
          </a:p>
          <a:p>
            <a:r>
              <a:rPr lang="en-US" dirty="0"/>
              <a:t>The dataset was cleaned to improve data quality</a:t>
            </a:r>
          </a:p>
          <a:p>
            <a:r>
              <a:rPr lang="en-US" dirty="0"/>
              <a:t>and analytical accuracy.</a:t>
            </a:r>
          </a:p>
          <a:p>
            <a:endParaRPr lang="en-US" dirty="0"/>
          </a:p>
          <a:p>
            <a:r>
              <a:rPr lang="en-US" dirty="0"/>
              <a:t>Missing values, duplicates, and inconsistent formats</a:t>
            </a:r>
          </a:p>
          <a:p>
            <a:r>
              <a:rPr lang="en-US" dirty="0"/>
              <a:t>were handled using Python and Pandas.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FD9A53-6FF2-C10F-FC5D-3C21E91FB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2710"/>
            <a:ext cx="5073445" cy="1756192"/>
          </a:xfrm>
          <a:prstGeom prst="rect">
            <a:avLst/>
          </a:prstGeom>
        </p:spPr>
      </p:pic>
      <p:pic>
        <p:nvPicPr>
          <p:cNvPr id="4098" name="Picture 2" descr="8,900+ Data Cleaning Icon Stock Illustrations, Royalty-Free Vector Graphics  &amp; Clip Art - iStock">
            <a:extLst>
              <a:ext uri="{FF2B5EF4-FFF2-40B4-BE49-F238E27FC236}">
                <a16:creationId xmlns:a16="http://schemas.microsoft.com/office/drawing/2014/main" id="{31A106E8-BC88-47DB-F5F2-2082F3AFF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107" y="2427788"/>
            <a:ext cx="9118805" cy="409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374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D66792-F970-B5A7-FBFD-6AAA99899725}"/>
              </a:ext>
            </a:extLst>
          </p:cNvPr>
          <p:cNvSpPr txBox="1"/>
          <p:nvPr/>
        </p:nvSpPr>
        <p:spPr>
          <a:xfrm>
            <a:off x="3569110" y="226142"/>
            <a:ext cx="55158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Exploratory Data Analysis(EDA):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EDA was performed to identify patterns, distributions,</a:t>
            </a:r>
          </a:p>
          <a:p>
            <a:pPr algn="just"/>
            <a:r>
              <a:rPr lang="en-US" dirty="0"/>
              <a:t>and relationships within the dataset.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Several visualizations were created using Matplotlib</a:t>
            </a:r>
          </a:p>
          <a:p>
            <a:pPr algn="just"/>
            <a:r>
              <a:rPr lang="en-US" dirty="0"/>
              <a:t>and Seaborn.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17AE33-CB5C-56C0-732A-8391A0852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24" y="2766118"/>
            <a:ext cx="5834176" cy="34525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6AE2C4-3D5F-9C25-0F35-CF389B4F1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830" y="2766118"/>
            <a:ext cx="5274351" cy="338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86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28A138-490A-777B-C5BC-EBEF99448AED}"/>
              </a:ext>
            </a:extLst>
          </p:cNvPr>
          <p:cNvSpPr txBox="1"/>
          <p:nvPr/>
        </p:nvSpPr>
        <p:spPr>
          <a:xfrm>
            <a:off x="501445" y="1160206"/>
            <a:ext cx="41590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 Insights:</a:t>
            </a:r>
          </a:p>
          <a:p>
            <a:endParaRPr lang="en-US" dirty="0"/>
          </a:p>
          <a:p>
            <a:r>
              <a:rPr lang="en-US" dirty="0"/>
              <a:t>The analysis revealed several valuable business insights</a:t>
            </a:r>
          </a:p>
          <a:p>
            <a:r>
              <a:rPr lang="en-US" dirty="0"/>
              <a:t>related to pricing, customer preferences, and market trends.</a:t>
            </a:r>
          </a:p>
          <a:p>
            <a:endParaRPr lang="en-US" dirty="0"/>
          </a:p>
          <a:p>
            <a:r>
              <a:rPr lang="en-US" dirty="0"/>
              <a:t>• Dell and HP dominate the market</a:t>
            </a:r>
          </a:p>
          <a:p>
            <a:r>
              <a:rPr lang="en-US" dirty="0"/>
              <a:t>• Gaming laptops have higher prices</a:t>
            </a:r>
          </a:p>
          <a:p>
            <a:r>
              <a:rPr lang="en-US" dirty="0"/>
              <a:t>• SSD storage is common in premium laptops</a:t>
            </a:r>
          </a:p>
          <a:p>
            <a:r>
              <a:rPr lang="en-US" dirty="0"/>
              <a:t>• Higher RAM increases laptop prices</a:t>
            </a:r>
          </a:p>
          <a:p>
            <a:r>
              <a:rPr lang="en-US" dirty="0"/>
              <a:t>• Intel processors are most frequently used</a:t>
            </a:r>
          </a:p>
        </p:txBody>
      </p:sp>
      <p:pic>
        <p:nvPicPr>
          <p:cNvPr id="5122" name="Picture 2" descr="HD wallpaper: Technology Logos, Computers, Others, brands, logos brands, hp  | WallpaperFlare">
            <a:extLst>
              <a:ext uri="{FF2B5EF4-FFF2-40B4-BE49-F238E27FC236}">
                <a16:creationId xmlns:a16="http://schemas.microsoft.com/office/drawing/2014/main" id="{36765DDB-C503-E432-A18B-CB790E2EE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481" y="1478915"/>
            <a:ext cx="6662584" cy="365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770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E23C9B-B426-7B5E-1634-362F2E2FBFC7}"/>
              </a:ext>
            </a:extLst>
          </p:cNvPr>
          <p:cNvSpPr txBox="1"/>
          <p:nvPr/>
        </p:nvSpPr>
        <p:spPr>
          <a:xfrm>
            <a:off x="1120877" y="206477"/>
            <a:ext cx="5299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Dashboard Overview: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An interactive dashboard was created using Power BI</a:t>
            </a:r>
          </a:p>
          <a:p>
            <a:pPr algn="just"/>
            <a:r>
              <a:rPr lang="en-US" dirty="0"/>
              <a:t>to monitor KPIs and business metrics effectively.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72D00E-1715-41C2-F5FE-C4E526485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56" y="1435359"/>
            <a:ext cx="10529986" cy="5288154"/>
          </a:xfrm>
          <a:prstGeom prst="rect">
            <a:avLst/>
          </a:prstGeom>
        </p:spPr>
      </p:pic>
      <p:pic>
        <p:nvPicPr>
          <p:cNvPr id="6146" name="Picture 2" descr="Power BI Logo, symbol, meaning, history, PNG, brand">
            <a:extLst>
              <a:ext uri="{FF2B5EF4-FFF2-40B4-BE49-F238E27FC236}">
                <a16:creationId xmlns:a16="http://schemas.microsoft.com/office/drawing/2014/main" id="{BBF8492D-5060-C4CA-7C49-56F88FF9F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813" y="134487"/>
            <a:ext cx="2087510" cy="116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943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66EAF3-196D-A31C-CBCA-2B4F3694B080}"/>
              </a:ext>
            </a:extLst>
          </p:cNvPr>
          <p:cNvSpPr txBox="1"/>
          <p:nvPr/>
        </p:nvSpPr>
        <p:spPr>
          <a:xfrm>
            <a:off x="1887794" y="196646"/>
            <a:ext cx="76298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Hypothesis Testing:</a:t>
            </a:r>
          </a:p>
          <a:p>
            <a:endParaRPr lang="en-US" dirty="0"/>
          </a:p>
          <a:p>
            <a:r>
              <a:rPr lang="en-US" dirty="0"/>
              <a:t>Hypothesis testing was performed to statistically validate</a:t>
            </a:r>
          </a:p>
          <a:p>
            <a:r>
              <a:rPr lang="en-US" dirty="0"/>
              <a:t>whether gaming laptops are significantly more expensive</a:t>
            </a:r>
          </a:p>
          <a:p>
            <a:r>
              <a:rPr lang="en-US" dirty="0"/>
              <a:t>than non-gaming laptops.</a:t>
            </a:r>
          </a:p>
          <a:p>
            <a:endParaRPr lang="en-US" dirty="0"/>
          </a:p>
          <a:p>
            <a:r>
              <a:rPr lang="en-US" b="1" dirty="0"/>
              <a:t>Includes:</a:t>
            </a:r>
          </a:p>
          <a:p>
            <a:r>
              <a:rPr lang="en-US" b="1" dirty="0"/>
              <a:t>Null Hypothesis:</a:t>
            </a:r>
            <a:r>
              <a:rPr lang="en-US" dirty="0"/>
              <a:t> Gaming and non-gaming laptops have equal average prices</a:t>
            </a:r>
            <a:r>
              <a:rPr lang="en-US" b="1" dirty="0"/>
              <a:t>.</a:t>
            </a:r>
            <a:endParaRPr lang="en-US" dirty="0"/>
          </a:p>
          <a:p>
            <a:r>
              <a:rPr lang="en-US" b="1" dirty="0"/>
              <a:t>Alternative </a:t>
            </a:r>
            <a:r>
              <a:rPr lang="en-US" b="1" dirty="0" err="1"/>
              <a:t>Hypothesis:</a:t>
            </a:r>
            <a:r>
              <a:rPr lang="en-US" dirty="0" err="1"/>
              <a:t>Gaming</a:t>
            </a:r>
            <a:r>
              <a:rPr lang="en-US" dirty="0"/>
              <a:t> laptops have significantly higher prices.</a:t>
            </a:r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A7687-DD27-4EFA-653C-CB9C3FA04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451" y="2993125"/>
            <a:ext cx="5768840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44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0C43AC-4A57-80BD-7839-517F11D438F7}"/>
              </a:ext>
            </a:extLst>
          </p:cNvPr>
          <p:cNvSpPr txBox="1"/>
          <p:nvPr/>
        </p:nvSpPr>
        <p:spPr>
          <a:xfrm>
            <a:off x="619432" y="1563329"/>
            <a:ext cx="10726994" cy="3485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Conclusion:</a:t>
            </a:r>
          </a:p>
          <a:p>
            <a:endParaRPr lang="en-US" dirty="0"/>
          </a:p>
          <a:p>
            <a:r>
              <a:rPr lang="en-US" dirty="0"/>
              <a:t>The project successfully identified important business</a:t>
            </a:r>
          </a:p>
          <a:p>
            <a:r>
              <a:rPr lang="en-US" dirty="0"/>
              <a:t>trends and pricing patterns in the laptop market.</a:t>
            </a:r>
          </a:p>
          <a:p>
            <a:endParaRPr lang="en-US" dirty="0"/>
          </a:p>
          <a:p>
            <a:r>
              <a:rPr lang="en-US" dirty="0"/>
              <a:t>Statistical testing validated that gaming laptops</a:t>
            </a:r>
          </a:p>
          <a:p>
            <a:r>
              <a:rPr lang="en-US" dirty="0"/>
              <a:t>have significantly higher pricing.</a:t>
            </a:r>
          </a:p>
          <a:p>
            <a:endParaRPr lang="en-US" dirty="0"/>
          </a:p>
          <a:p>
            <a:r>
              <a:rPr lang="en-US" dirty="0"/>
              <a:t>• SSD laptops dominate premium segment</a:t>
            </a:r>
          </a:p>
          <a:p>
            <a:r>
              <a:rPr lang="en-US" dirty="0"/>
              <a:t>• Gaming laptops generate higher revenue</a:t>
            </a:r>
          </a:p>
          <a:p>
            <a:r>
              <a:rPr lang="en-US" dirty="0"/>
              <a:t>• RAM strongly impacts pricing</a:t>
            </a:r>
          </a:p>
          <a:p>
            <a:r>
              <a:rPr lang="en-US" dirty="0"/>
              <a:t>• Dashboarding improves decision-making</a:t>
            </a:r>
          </a:p>
        </p:txBody>
      </p:sp>
      <p:pic>
        <p:nvPicPr>
          <p:cNvPr id="7170" name="Picture 2" descr="2,223,972 Business Growth Background Royalty-Free Images, Stock Photos &amp;  Pictures | Shutterstock">
            <a:extLst>
              <a:ext uri="{FF2B5EF4-FFF2-40B4-BE49-F238E27FC236}">
                <a16:creationId xmlns:a16="http://schemas.microsoft.com/office/drawing/2014/main" id="{EC4068B8-C66A-8457-0B43-0C0132440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10" y="1871662"/>
            <a:ext cx="571500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136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1BCB31-02CD-F35D-199F-5C3BB203E166}"/>
              </a:ext>
            </a:extLst>
          </p:cNvPr>
          <p:cNvSpPr txBox="1"/>
          <p:nvPr/>
        </p:nvSpPr>
        <p:spPr>
          <a:xfrm>
            <a:off x="1465006" y="2467897"/>
            <a:ext cx="90358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71109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352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Bell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Tejasathvika Mutte</dc:creator>
  <cp:lastModifiedBy>Tejasathvika Mutte</cp:lastModifiedBy>
  <cp:revision>1</cp:revision>
  <dcterms:created xsi:type="dcterms:W3CDTF">2026-05-19T15:49:59Z</dcterms:created>
  <dcterms:modified xsi:type="dcterms:W3CDTF">2026-05-19T16:37:08Z</dcterms:modified>
</cp:coreProperties>
</file>